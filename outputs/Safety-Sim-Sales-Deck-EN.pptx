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77ca83da464f1f" /><Relationship Type="http://schemas.openxmlformats.org/officeDocument/2006/relationships/extended-properties" Target="/docProps/app.xml" Id="R9877a5e28fc04d8d" /><Relationship Type="http://schemas.openxmlformats.org/officeDocument/2006/relationships/officeDocument" Target="/ppt/presentation.xml" Id="R1aca9a5f313f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20ff97e05e4cc9"/>
  </p:sldMasterIdLst>
  <p:notesMasterIdLst>
    <p:notesMasterId xmlns:r="http://schemas.openxmlformats.org/officeDocument/2006/relationships" r:id="R8ef0dc1b3b684935"/>
  </p:notesMasterIdLst>
  <p:sldIdLst>
    <p:sldId xmlns:r="http://schemas.openxmlformats.org/officeDocument/2006/relationships" id="256" r:id="Rb8972d564ab3430c"/>
    <p:sldId xmlns:r="http://schemas.openxmlformats.org/officeDocument/2006/relationships" id="257" r:id="Rc2274335cbdb4005"/>
    <p:sldId xmlns:r="http://schemas.openxmlformats.org/officeDocument/2006/relationships" id="258" r:id="R9828d786f3694f87"/>
    <p:sldId xmlns:r="http://schemas.openxmlformats.org/officeDocument/2006/relationships" id="259" r:id="R64fb756b9527488f"/>
    <p:sldId xmlns:r="http://schemas.openxmlformats.org/officeDocument/2006/relationships" id="260" r:id="Rb6b6e4449661484f"/>
    <p:sldId xmlns:r="http://schemas.openxmlformats.org/officeDocument/2006/relationships" id="261" r:id="R8e2fcd91b2834cdc"/>
    <p:sldId xmlns:r="http://schemas.openxmlformats.org/officeDocument/2006/relationships" id="262" r:id="Ra5b351e2229a481e"/>
    <p:sldId xmlns:r="http://schemas.openxmlformats.org/officeDocument/2006/relationships" id="263" r:id="R875f461212014523"/>
    <p:sldId xmlns:r="http://schemas.openxmlformats.org/officeDocument/2006/relationships" id="264" r:id="Rdd5d7db287ef4f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47605514e444b8" /><Relationship Type="http://schemas.openxmlformats.org/officeDocument/2006/relationships/slideMaster" Target="/ppt/slideMasters/slideMaster1.xml" Id="Rdd20ff97e05e4cc9" /><Relationship Type="http://schemas.openxmlformats.org/officeDocument/2006/relationships/notesMaster" Target="/ppt/notesMasters/notesMaster1.xml" Id="R8ef0dc1b3b684935" /><Relationship Type="http://schemas.openxmlformats.org/officeDocument/2006/relationships/presProps" Target="/ppt/presProps.xml" Id="R05110d8c1e8b40c8" /><Relationship Type="http://schemas.openxmlformats.org/officeDocument/2006/relationships/tableStyles" Target="/ppt/tableStyles.xml" Id="R57596a609c3c4ecf" /><Relationship Type="http://schemas.openxmlformats.org/officeDocument/2006/relationships/slide" Target="/ppt/slides/slide1.xml" Id="Rb8972d564ab3430c" /><Relationship Type="http://schemas.openxmlformats.org/officeDocument/2006/relationships/slide" Target="/ppt/slides/slide2.xml" Id="Rc2274335cbdb4005" /><Relationship Type="http://schemas.openxmlformats.org/officeDocument/2006/relationships/slide" Target="/ppt/slides/slide3.xml" Id="R9828d786f3694f87" /><Relationship Type="http://schemas.openxmlformats.org/officeDocument/2006/relationships/slide" Target="/ppt/slides/slide4.xml" Id="R64fb756b9527488f" /><Relationship Type="http://schemas.openxmlformats.org/officeDocument/2006/relationships/slide" Target="/ppt/slides/slide5.xml" Id="Rb6b6e4449661484f" /><Relationship Type="http://schemas.openxmlformats.org/officeDocument/2006/relationships/slide" Target="/ppt/slides/slide6.xml" Id="R8e2fcd91b2834cdc" /><Relationship Type="http://schemas.openxmlformats.org/officeDocument/2006/relationships/slide" Target="/ppt/slides/slide7.xml" Id="Ra5b351e2229a481e" /><Relationship Type="http://schemas.openxmlformats.org/officeDocument/2006/relationships/slide" Target="/ppt/slides/slide8.xml" Id="R875f461212014523" /><Relationship Type="http://schemas.openxmlformats.org/officeDocument/2006/relationships/slide" Target="/ppt/slides/slide9.xml" Id="Rdd5d7db287ef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d39809159148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ac958a560e4962" /><Relationship Type="http://schemas.openxmlformats.org/officeDocument/2006/relationships/notesMaster" Target="/ppt/notesMasters/notesMaster1.xml" Id="R28e9c2c28e1e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d0a521e2b4f8b" /><Relationship Type="http://schemas.openxmlformats.org/officeDocument/2006/relationships/notesMaster" Target="/ppt/notesMasters/notesMaster1.xml" Id="Rb9a2ea267c0441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ec74d1df1341eb" /><Relationship Type="http://schemas.openxmlformats.org/officeDocument/2006/relationships/notesMaster" Target="/ppt/notesMasters/notesMaster1.xml" Id="Ra12e5deaaa4e42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191823c50e4e57" /><Relationship Type="http://schemas.openxmlformats.org/officeDocument/2006/relationships/notesMaster" Target="/ppt/notesMasters/notesMaster1.xml" Id="R8dbb6b6a1a05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2deeb7408c4847" /><Relationship Type="http://schemas.openxmlformats.org/officeDocument/2006/relationships/notesMaster" Target="/ppt/notesMasters/notesMaster1.xml" Id="Rea5ba3d67aa84a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d1b330f48045d5" /><Relationship Type="http://schemas.openxmlformats.org/officeDocument/2006/relationships/notesMaster" Target="/ppt/notesMasters/notesMaster1.xml" Id="Rbea5556b98de47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9632c809144ec" /><Relationship Type="http://schemas.openxmlformats.org/officeDocument/2006/relationships/notesMaster" Target="/ppt/notesMasters/notesMaster1.xml" Id="R4611b7f4090e43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fe5362e14e49c5" /><Relationship Type="http://schemas.openxmlformats.org/officeDocument/2006/relationships/notesMaster" Target="/ppt/notesMasters/notesMaster1.xml" Id="R6baa189aec7d48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1cda6d61644214" /><Relationship Type="http://schemas.openxmlformats.org/officeDocument/2006/relationships/notesMaster" Target="/ppt/notesMasters/notesMaster1.xml" Id="R819be1bb83994f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5e908e1a343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a195e4aa0b4ad0" /><Relationship Type="http://schemas.openxmlformats.org/officeDocument/2006/relationships/slideLayout" Target="/ppt/slideLayouts/slideLayout1.xml" Id="R4ee0cd616f6641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e0cd616f6641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3d45321524264" /><Relationship Type="http://schemas.openxmlformats.org/officeDocument/2006/relationships/image" Target="/ppt/media/image.png" Id="R53de8d141b5f49bd" /><Relationship Type="http://schemas.openxmlformats.org/officeDocument/2006/relationships/notesSlide" Target="/ppt/notesSlides/notesSlide1.xml" Id="Ra45099cda63e41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44c81f93e4958" /><Relationship Type="http://schemas.openxmlformats.org/officeDocument/2006/relationships/notesSlide" Target="/ppt/notesSlides/notesSlide2.xml" Id="R05c53a08e96b4f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ea6b8056a45de" /><Relationship Type="http://schemas.openxmlformats.org/officeDocument/2006/relationships/image" Target="/ppt/media/image2.png" Id="R821ed7f0690142a1" /><Relationship Type="http://schemas.openxmlformats.org/officeDocument/2006/relationships/notesSlide" Target="/ppt/notesSlides/notesSlide3.xml" Id="Rb30492416b884f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8bf532ab64259" /><Relationship Type="http://schemas.openxmlformats.org/officeDocument/2006/relationships/image" Target="/ppt/media/image3.png" Id="Rc75714ec161c4a6f" /><Relationship Type="http://schemas.openxmlformats.org/officeDocument/2006/relationships/image" Target="/ppt/media/image4.png" Id="R308ca54440314a8f" /><Relationship Type="http://schemas.openxmlformats.org/officeDocument/2006/relationships/image" Target="/ppt/media/image5.png" Id="Rdf62a4b873d248d9" /><Relationship Type="http://schemas.openxmlformats.org/officeDocument/2006/relationships/image" Target="/ppt/media/image6.png" Id="R2fb37351dd184784" /><Relationship Type="http://schemas.openxmlformats.org/officeDocument/2006/relationships/image" Target="/ppt/media/image7.png" Id="R7c1b87b0d4964d5f" /><Relationship Type="http://schemas.openxmlformats.org/officeDocument/2006/relationships/image" Target="/ppt/media/image8.png" Id="R5a22d29b5afb4fff" /><Relationship Type="http://schemas.openxmlformats.org/officeDocument/2006/relationships/notesSlide" Target="/ppt/notesSlides/notesSlide4.xml" Id="R9ff9a0158061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a793e37ec422d" /><Relationship Type="http://schemas.openxmlformats.org/officeDocument/2006/relationships/notesSlide" Target="/ppt/notesSlides/notesSlide5.xml" Id="R1435599a877d4a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2f83d21b441b9" /><Relationship Type="http://schemas.openxmlformats.org/officeDocument/2006/relationships/image" Target="/ppt/media/image9.png" Id="R69abc6abfb094afd" /><Relationship Type="http://schemas.openxmlformats.org/officeDocument/2006/relationships/notesSlide" Target="/ppt/notesSlides/notesSlide6.xml" Id="Re9d260f47c294a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216a51db940c9" /><Relationship Type="http://schemas.openxmlformats.org/officeDocument/2006/relationships/notesSlide" Target="/ppt/notesSlides/notesSlide7.xml" Id="Rb7e9264ba31740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cfc37562a4246" /><Relationship Type="http://schemas.openxmlformats.org/officeDocument/2006/relationships/image" Target="/ppt/media/image10.png" Id="R44b38cca863742ab" /><Relationship Type="http://schemas.openxmlformats.org/officeDocument/2006/relationships/notesSlide" Target="/ppt/notesSlides/notesSlide8.xml" Id="R95cd5109d830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5eedc3b46476c" /><Relationship Type="http://schemas.openxmlformats.org/officeDocument/2006/relationships/notesSlide" Target="/ppt/notesSlides/notesSlide9.xml" Id="Rf30211c4b42042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e8d141b5f49bd"/>
          <a:srcRect xmlns:a="http://schemas.openxmlformats.org/drawingml/2006/main" l="29653" t="0" r="29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609600"/>
            <a:ext cx="4533900" cy="5334000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B319C-DF92-421F-8427-BF381CF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F61"/>
                </a:solidFill>
              </a:defRPr>
            </a:pPr>
            <a:r>
              <a:rPr sz="1200" b="1">
                <a:solidFill>
                  <a:srgbClr val="0B5F61"/>
                </a:solidFill>
              </a:rPr>
              <a:t>SALES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61191-421F-406F-A867-C30C76A5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219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02B"/>
                </a:solidFill>
              </a:defRPr>
            </a:pPr>
            <a:r>
              <a:rPr sz="4200" b="1">
                <a:solidFill>
                  <a:srgbClr val="10202B"/>
                </a:solidFill>
              </a:rPr>
              <a:t>VR training for industrial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A0EE6-4F68-4C03-B86D-2AFDA94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7080"/>
                </a:solidFill>
              </a:defRPr>
            </a:pPr>
            <a:r>
              <a:rPr sz="1800" b="0">
                <a:solidFill>
                  <a:srgbClr val="5F7080"/>
                </a:solidFill>
              </a:rPr>
              <a:t>Safety Sim helps companies rehearse risky procedures before a real incident happens.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D2FA9-77F4-4E21-8FE4-49CE6169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4C755-AE2C-459E-8D50-38D60375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06C51-2355-4817-AB44-34E23634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3784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D6C0B8-5D32-4A23-93CC-A73A03EF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2B"/>
                </a:solidFill>
              </a:defRPr>
            </a:pPr>
            <a:r>
              <a:rPr sz="3300" b="1">
                <a:solidFill>
                  <a:srgbClr val="10202B"/>
                </a:solidFill>
              </a:rPr>
              <a:t>Traditional training rarely prepares people for the pressure of a real incident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CD448-4AF6-41B9-95DF-8BD6CF05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080"/>
                </a:solidFill>
              </a:defRPr>
            </a:pPr>
            <a:r>
              <a:rPr sz="1650" b="0">
                <a:solidFill>
                  <a:srgbClr val="5F7080"/>
                </a:solidFill>
              </a:rPr>
              <a:t>Paper tests and classroom sessions can prove attendance, but not whether a worker can spot the risk, select equipment, and react in the right order.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9E3A8-92DA-49D9-A827-982A312E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360C9-222C-45C5-9F46-6EEB64EB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FB43D-2AEB-4764-8219-37F91F6B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Dangerous situations cannot be practiced often enough in the real environment.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AB454-00FA-48C4-BD7D-A7F9CD98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9FB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02ED1-D8D1-4FCA-8603-AA03693E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Standard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DC124-6435-434D-A8ED-2CFFE4D0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Different instructors and sites often create an inconsistent learning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91872-18BE-4848-8400-BF4418AA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97104-158C-4934-8046-201F80C7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FD448-18B5-4AA5-9A79-C1602C8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The company needs records showing who completed training, results, and certificates.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1C251-55F7-4016-A533-18545BBB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EEAAF-40FA-41BE-A07B-5456163C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360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CD49C0-75F0-4E32-8085-005ADC9D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Safety Sim turns training into controlled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3FE2A-4BEC-40B7-8839-76E9AD38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The platform combines VR scenarios, worker records, and certificates for completed training.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48A9B-50A5-4E60-9BE7-0E774F6B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23974-482C-4D88-8553-D510D06F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Realistic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4A75B-BC23-446C-8DD6-DC690819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Workers make decisions, use equipment, see mistakes, and learn consequences in a safe setting.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A431B-AA8C-41A2-954F-464C52C7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2444A-E5ED-415A-9F6A-DECB0722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Measurable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C00B3-0DC9-4BC5-8995-9390BEFD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The system records score, duration, status, and certificate issuance.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96FB7-9699-499F-802E-DC52C007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D9448-126F-4671-814F-72534E78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Multilingual rollout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13D87-990A-422B-9199-F1E5826A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Serbian and English are already supported, with room to add more languages.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ed7f0690142a1"/>
          <a:srcRect xmlns:a="http://schemas.openxmlformats.org/drawingml/2006/main" l="24926" t="0" r="24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0C333-E35A-41DF-8801-599E7667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97F44-08C4-44E1-AF85-511BB262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2075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5596E-122F-403A-BA46-2B31F576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</a:defRPr>
            </a:pPr>
            <a:r>
              <a:rPr sz="3000" b="1">
                <a:solidFill>
                  <a:srgbClr val="10202B"/>
                </a:solidFill>
              </a:rPr>
              <a:t>The initial catalog covers high-risk and regulated processes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714ec161c4a6f"/>
          <a:srcRect xmlns:a="http://schemas.openxmlformats.org/drawingml/2006/main" l="0" t="13614" r="0" b="13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D4C88-7ED3-4EF2-9DDD-3D7DB84C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Fire protection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E5A5B-3994-429F-9279-25446BA8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ca54440314a8f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1BD26-7631-435D-A0D4-74B94058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Radioactive 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8D2AF-96EB-4946-8B61-44F760FA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2a4b873d248d9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802C5-FBEA-4BCB-9434-75DF8604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Chemical waste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526E1-A705-4CE0-9FA4-9409466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37351dd184784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10127-F64B-4C2E-9D03-AD8F108A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Construction waste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057C7-C5C1-451C-8CCD-D9441F89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b87b0d4964d5f"/>
          <a:srcRect xmlns:a="http://schemas.openxmlformats.org/drawingml/2006/main" l="0" t="19653" r="0" b="19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0C459-F57D-445B-B7B1-D8A34FBD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Electronic waste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43FCF-3B9A-4881-B94A-EF0C0444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2d29b5afb4fff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DC5EC-AEEF-4F4A-8B88-DB061966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Biomedical waste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067D8-1815-4A6F-A0B9-35D9EA09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054DB-9224-4DDD-A8CF-C9F32834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4718C-AC65-4A18-859F-BF30DA2B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1523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31674F-77B4-432B-A722-2E1087C0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The workflow supports companies, instructors, and workers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BC338-7F47-4000-917F-C599EBE4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58918-2F17-493B-9976-3386EEA2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F894-D9E5-4B2F-84E9-16791E94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Company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272AA-9AB0-42CC-85AB-557D6870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Tenant and company user registration.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23656-E2DB-403B-BABF-C60B170E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1539A-6747-4669-904D-CEC9CABE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0FCAE-AB71-40F7-8068-46579862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063C3-801B-4485-B87E-CB020C18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Workers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D2F33-AF73-49F0-843F-D9896F52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Worker and department management.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AF9EC-673F-4A6F-BAD1-94CBC9A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8A1DA-32FB-452A-8AEB-1141A988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5BCE8-956B-419E-8C2B-7163B9B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A6B4C-A775-4494-87D4-FD8EFC4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Courses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7DF2E-D004-41DE-8BE7-2D5924DC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Scenario assignment and status tracking.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06DC1-9636-4120-9A75-FD97782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FA90B-D674-4ABB-864A-B28B8E11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89988-9500-42A9-A22D-F946BE14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7CC81-F08F-4239-B32E-42C9550F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Certificate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39291-6A8E-421F-88D3-E1DE9A89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Automatic record of completed courses.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6F043-DA73-40ED-A483-38A61576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AA9FE-4A3A-495C-9A98-0ED043A0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461F4-F82D-4790-A101-6F4DCCD4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25D19-BA40-4DB2-99EB-90A0D3BE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8DF21-2157-4FEC-B08D-D309648F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Public certificate number verification.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9551F-DFDC-4E3D-B7F5-F4CAA0D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88AB2-2AE5-45C9-B459-3DED138B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9754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386877-F2E5-4FCF-93F6-A3E143B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For buyers, the value is lower risk and better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EA387-62FE-44C6-9EA1-3E3DC945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Safety Sim is not sold as a game. It is a tool for standardizing safety training.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24079-231E-4123-9F39-77A2900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7BB72-095C-416B-9A8A-E7266CC2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Safe practice before real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AB854-DC99-4DB1-8C5E-8EADA45A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Workers can make mistakes in simulation, not in a facility, laboratory, or production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BC39C-B860-4CB9-A859-A7471126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2FB03-D92C-424C-8B24-3B591176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One standard across sites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DA0D8-9E44-4963-A92F-566DDA0F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The same scenario, criteria, and instructions can be used for every team.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EBFA2-09D2-4C19-9FF9-620981F8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111B7-1EBE-4BAA-B2DC-62662B2E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Management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088A1-3E45-4804-8966-F3E8BA1C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The company can see workers, enrollments, results, certificates, and expiry dates.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bc6abfb094afd"/>
          <a:srcRect xmlns:a="http://schemas.openxmlformats.org/drawingml/2006/main" l="18667" t="0" r="1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7EAB0-ECE0-4073-95E2-9686AE74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EEDE6-28DB-44AD-A8C1-3BA1BAA3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0996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27CAB-1DC4-4B44-A717-FEA8C094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</a:defRPr>
            </a:pPr>
            <a:r>
              <a:rPr sz="3000" b="1">
                <a:solidFill>
                  <a:srgbClr val="10202B"/>
                </a:solidFill>
              </a:rPr>
              <a:t>Pricing is simple enough for a fast buying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AA47A-ED61-4C65-A64F-EE00037E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400B8-DAEB-46A6-A7B2-31586AF1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Small companies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91741-3EC1-4EE1-9B19-67F023E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up to 10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C1807-E0B0-478C-B531-4ED84F48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up to EUR 10 monthly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2A58E-96EA-44D3-B682-D0332D47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up to EUR 100 yearly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3BDE0-8D18-46F2-B1EE-ED66716D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EEF9FB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4D174-899F-4F5A-8C4B-2AAA2E1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Mid-size companies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DF813-D93D-4E25-B2C8-A22F964F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up to 100 workers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22ECF-D504-4A19-BE1A-5B84FB73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up to EUR 100 monthly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2D0C4-E3D5-4862-9E2C-D6F108B8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up to EUR 1,000 yearly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33BC5-15D4-4F98-9599-F4E72554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6D806-B6CF-451C-85F5-345338A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Large companies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4F456-E13E-4BAB-AAFF-40818180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100+ workers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81833-C016-487D-9975-1B8E643B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EUR 1 x number of workers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97E70-80A2-4A78-B37F-B0A34B89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EUR 10 x number of workers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459E5-9D9F-4E79-BF97-5FE9BE86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</a:defRPr>
            </a:pPr>
            <a:r>
              <a:rPr sz="1650" b="0">
                <a:solidFill>
                  <a:srgbClr val="10202B"/>
                </a:solidFill>
              </a:rPr>
              <a:t>Base model: EUR 1 per worker per month or EUR 10 per worker per year.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DCFAB-2C95-44C5-96A8-568BFD66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3F38E-0BAF-435C-B577-382BAB13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0821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EA516-FEF8-45B7-BF6D-F0D9EDE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A pilot can start with one scenario and one worker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2C647-DE63-4550-A7BA-835EE13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The fastest sales path is a concrete demo for a training area the buyer already needs to cover.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CD2AA-C66C-4532-971F-7943AB05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67CF9-46C8-4391-A983-ED442F7A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Choose the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35981-9A5A-4F35-B1CE-5309C79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Fire protection, radioactive materials, or one of the waste handling scenarios.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DA737-A194-4C77-A91B-46E519F8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F4219-0E32-497D-84D5-87D3F211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Add workers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73FDE-E13D-4A02-8D1A-230FDEF4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A small pilot group makes it easy to test the workflow and reporting.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E6951-0AFF-42AB-81F2-1E37B3EA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5E869-6CD1-4336-8E2B-A3ED56A1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Evaluate after the 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DE6C8-8A46-43A1-AC80-B8742DD9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Success is measured through completed training, certificates, and instructor feedback.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38cca863742ab"/>
          <a:srcRect xmlns:a="http://schemas.openxmlformats.org/drawingml/2006/main" l="18667" t="0" r="1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B80F2-853A-4269-9A3D-488DE826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FF58A-E8BB-4BCF-8069-21E0FD1A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9681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EBECB2-E0FA-4DBF-9B2F-F28EB83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B"/>
                </a:solidFill>
              </a:defRPr>
            </a:pPr>
            <a:r>
              <a:rPr sz="3600" b="1">
                <a:solidFill>
                  <a:srgbClr val="10202B"/>
                </a:solidFill>
              </a:rPr>
              <a:t>The next conversation should choose the pilot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E6A10-A1AA-4229-811C-C6197896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1. Select the training area and number of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0F3B1-BBFF-4058-A549-0A20F1A2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2. Agree on the company account and participant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7094C-C4FC-46C0-B34F-251B176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3. Show the demo and confirm the commercial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FC799-8083-4A05-A532-8C332B4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590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213A7-6E43-4BEE-B77C-056CDD46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Contact: office@nswebdevelopment.com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C3589-4BB1-46C5-B302-FAF4E5D4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AD0DB-D34A-47C0-86F4-99A77E15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49430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2026-07-11T07:38:36.9540000Z</dcterms:created>
  <dcterms:modified xsi:type="dcterms:W3CDTF">2026-07-11T07:38:36.9540000Z</dcterms:modified>
</coreProperties>
</file>