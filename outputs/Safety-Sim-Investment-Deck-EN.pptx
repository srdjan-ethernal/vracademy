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a52c176f54f4fcf" /><Relationship Type="http://schemas.openxmlformats.org/officeDocument/2006/relationships/extended-properties" Target="/docProps/app.xml" Id="Rf58591c8de51427b" /><Relationship Type="http://schemas.openxmlformats.org/officeDocument/2006/relationships/officeDocument" Target="/ppt/presentation.xml" Id="R57502297b8ed4e5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97ece55e5274371"/>
  </p:sldMasterIdLst>
  <p:notesMasterIdLst>
    <p:notesMasterId xmlns:r="http://schemas.openxmlformats.org/officeDocument/2006/relationships" r:id="Rb59af2fcfdc4402e"/>
  </p:notesMasterIdLst>
  <p:sldIdLst>
    <p:sldId xmlns:r="http://schemas.openxmlformats.org/officeDocument/2006/relationships" id="256" r:id="Ra64a29cc6fd8477f"/>
    <p:sldId xmlns:r="http://schemas.openxmlformats.org/officeDocument/2006/relationships" id="257" r:id="R64e605e5b92046f0"/>
    <p:sldId xmlns:r="http://schemas.openxmlformats.org/officeDocument/2006/relationships" id="258" r:id="Rfabc8a146c0d4605"/>
    <p:sldId xmlns:r="http://schemas.openxmlformats.org/officeDocument/2006/relationships" id="259" r:id="R2bedcf7a995541ad"/>
    <p:sldId xmlns:r="http://schemas.openxmlformats.org/officeDocument/2006/relationships" id="260" r:id="Re6c9d39fb8544bec"/>
    <p:sldId xmlns:r="http://schemas.openxmlformats.org/officeDocument/2006/relationships" id="261" r:id="Re3a6e10a3e2d411e"/>
    <p:sldId xmlns:r="http://schemas.openxmlformats.org/officeDocument/2006/relationships" id="262" r:id="R384e5be78db64091"/>
    <p:sldId xmlns:r="http://schemas.openxmlformats.org/officeDocument/2006/relationships" id="263" r:id="R25112b85bc554bf8"/>
    <p:sldId xmlns:r="http://schemas.openxmlformats.org/officeDocument/2006/relationships" id="264" r:id="Ra879cb87b5ed42a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5571e1fe774693" /><Relationship Type="http://schemas.openxmlformats.org/officeDocument/2006/relationships/slideMaster" Target="/ppt/slideMasters/slideMaster1.xml" Id="Ra97ece55e5274371" /><Relationship Type="http://schemas.openxmlformats.org/officeDocument/2006/relationships/notesMaster" Target="/ppt/notesMasters/notesMaster1.xml" Id="Rb59af2fcfdc4402e" /><Relationship Type="http://schemas.openxmlformats.org/officeDocument/2006/relationships/presProps" Target="/ppt/presProps.xml" Id="R41dd4168a84c4594" /><Relationship Type="http://schemas.openxmlformats.org/officeDocument/2006/relationships/tableStyles" Target="/ppt/tableStyles.xml" Id="R57bc6f08b52d426f" /><Relationship Type="http://schemas.openxmlformats.org/officeDocument/2006/relationships/slide" Target="/ppt/slides/slide1.xml" Id="Ra64a29cc6fd8477f" /><Relationship Type="http://schemas.openxmlformats.org/officeDocument/2006/relationships/slide" Target="/ppt/slides/slide2.xml" Id="R64e605e5b92046f0" /><Relationship Type="http://schemas.openxmlformats.org/officeDocument/2006/relationships/slide" Target="/ppt/slides/slide3.xml" Id="Rfabc8a146c0d4605" /><Relationship Type="http://schemas.openxmlformats.org/officeDocument/2006/relationships/slide" Target="/ppt/slides/slide4.xml" Id="R2bedcf7a995541ad" /><Relationship Type="http://schemas.openxmlformats.org/officeDocument/2006/relationships/slide" Target="/ppt/slides/slide5.xml" Id="Re6c9d39fb8544bec" /><Relationship Type="http://schemas.openxmlformats.org/officeDocument/2006/relationships/slide" Target="/ppt/slides/slide6.xml" Id="Re3a6e10a3e2d411e" /><Relationship Type="http://schemas.openxmlformats.org/officeDocument/2006/relationships/slide" Target="/ppt/slides/slide7.xml" Id="R384e5be78db64091" /><Relationship Type="http://schemas.openxmlformats.org/officeDocument/2006/relationships/slide" Target="/ppt/slides/slide8.xml" Id="R25112b85bc554bf8" /><Relationship Type="http://schemas.openxmlformats.org/officeDocument/2006/relationships/slide" Target="/ppt/slides/slide9.xml" Id="Ra879cb87b5ed42a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a408814e7d453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08c0dcb5fb444b" /><Relationship Type="http://schemas.openxmlformats.org/officeDocument/2006/relationships/notesMaster" Target="/ppt/notesMasters/notesMaster1.xml" Id="R15d01ac12ebc470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de6651c4d1440f1" /><Relationship Type="http://schemas.openxmlformats.org/officeDocument/2006/relationships/notesMaster" Target="/ppt/notesMasters/notesMaster1.xml" Id="Rd4ba2af6032248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95073e01824855" /><Relationship Type="http://schemas.openxmlformats.org/officeDocument/2006/relationships/notesMaster" Target="/ppt/notesMasters/notesMaster1.xml" Id="Rde863011e3e84d4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26704eee79f4722" /><Relationship Type="http://schemas.openxmlformats.org/officeDocument/2006/relationships/notesMaster" Target="/ppt/notesMasters/notesMaster1.xml" Id="R8ff0672fb8f14f5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b898f09885a49e0" /><Relationship Type="http://schemas.openxmlformats.org/officeDocument/2006/relationships/notesMaster" Target="/ppt/notesMasters/notesMaster1.xml" Id="R116a5b45c13546b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0d47746d58f498f" /><Relationship Type="http://schemas.openxmlformats.org/officeDocument/2006/relationships/notesMaster" Target="/ppt/notesMasters/notesMaster1.xml" Id="Ra8961a0c24ff4c3f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5e60596d1104bcf" /><Relationship Type="http://schemas.openxmlformats.org/officeDocument/2006/relationships/notesMaster" Target="/ppt/notesMasters/notesMaster1.xml" Id="Ree6998fda88d4b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5e498f463b84a66" /><Relationship Type="http://schemas.openxmlformats.org/officeDocument/2006/relationships/notesMaster" Target="/ppt/notesMasters/notesMaster1.xml" Id="Rc7ea1a94886542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a07f5c5fd234afb" /><Relationship Type="http://schemas.openxmlformats.org/officeDocument/2006/relationships/notesMaster" Target="/ppt/notesMasters/notesMaster1.xml" Id="Ra168a0c2f8cc426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7d8a6231817460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51e3baabe684d7d" /><Relationship Type="http://schemas.openxmlformats.org/officeDocument/2006/relationships/slideLayout" Target="/ppt/slideLayouts/slideLayout1.xml" Id="R16b4ca6af4a9478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6b4ca6af4a9478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401cebee20492e" /><Relationship Type="http://schemas.openxmlformats.org/officeDocument/2006/relationships/image" Target="/ppt/media/image.png" Id="Re7f701dba4b240a1" /><Relationship Type="http://schemas.openxmlformats.org/officeDocument/2006/relationships/notesSlide" Target="/ppt/notesSlides/notesSlide1.xml" Id="R108fc73b0e18488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460322b90a445a" /><Relationship Type="http://schemas.openxmlformats.org/officeDocument/2006/relationships/notesSlide" Target="/ppt/notesSlides/notesSlide2.xml" Id="Rcfefc9e6e63f44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d28b6ce5824e0f" /><Relationship Type="http://schemas.openxmlformats.org/officeDocument/2006/relationships/image" Target="/ppt/media/image2.png" Id="Rb0a44c6c977c4cb5" /><Relationship Type="http://schemas.openxmlformats.org/officeDocument/2006/relationships/notesSlide" Target="/ppt/notesSlides/notesSlide3.xml" Id="R0238db1b4ca940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87e00a1fd14bdf" /><Relationship Type="http://schemas.openxmlformats.org/officeDocument/2006/relationships/image" Target="/ppt/media/image3.png" Id="R0bd154e0712f4ac2" /><Relationship Type="http://schemas.openxmlformats.org/officeDocument/2006/relationships/notesSlide" Target="/ppt/notesSlides/notesSlide4.xml" Id="R26efd0d79b4b43d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6060da3eb94a78" /><Relationship Type="http://schemas.openxmlformats.org/officeDocument/2006/relationships/image" Target="/ppt/media/image4.png" Id="Ra727b9ee46b847b5" /><Relationship Type="http://schemas.openxmlformats.org/officeDocument/2006/relationships/image" Target="/ppt/media/image5.png" Id="R8aa206f440854e02" /><Relationship Type="http://schemas.openxmlformats.org/officeDocument/2006/relationships/image" Target="/ppt/media/image6.png" Id="R8f7d4adf0b6049e0" /><Relationship Type="http://schemas.openxmlformats.org/officeDocument/2006/relationships/image" Target="/ppt/media/image7.png" Id="R28e8d4b148bb4b8c" /><Relationship Type="http://schemas.openxmlformats.org/officeDocument/2006/relationships/image" Target="/ppt/media/image8.png" Id="R5bd52296e6464528" /><Relationship Type="http://schemas.openxmlformats.org/officeDocument/2006/relationships/image" Target="/ppt/media/image9.png" Id="R2a6b18f5765a4f56" /><Relationship Type="http://schemas.openxmlformats.org/officeDocument/2006/relationships/notesSlide" Target="/ppt/notesSlides/notesSlide5.xml" Id="Rc1680d2338e7427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0956d67b744881" /><Relationship Type="http://schemas.openxmlformats.org/officeDocument/2006/relationships/notesSlide" Target="/ppt/notesSlides/notesSlide6.xml" Id="R8c55840434c24f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f9bb3ff9d4910" /><Relationship Type="http://schemas.openxmlformats.org/officeDocument/2006/relationships/notesSlide" Target="/ppt/notesSlides/notesSlide7.xml" Id="R7e03a244cc7447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fcaadcac0e647ae" /><Relationship Type="http://schemas.openxmlformats.org/officeDocument/2006/relationships/image" Target="/ppt/media/image10.png" Id="R30faa9008362415e" /><Relationship Type="http://schemas.openxmlformats.org/officeDocument/2006/relationships/notesSlide" Target="/ppt/notesSlides/notesSlide8.xml" Id="R1804aec64cdb41b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07baadccef4470" /><Relationship Type="http://schemas.openxmlformats.org/officeDocument/2006/relationships/notesSlide" Target="/ppt/notesSlides/notesSlide9.xml" Id="R9666c342ce73481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7f701dba4b240a1"/>
          <a:srcRect xmlns:a="http://schemas.openxmlformats.org/drawingml/2006/main" l="29653" t="0" r="2965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24650" y="609600"/>
            <a:ext cx="4533900" cy="5334000"/>
          </a:xfrm>
          <a:prstGeom xmlns:a="http://schemas.openxmlformats.org/drawingml/2006/main" prst="roundRect">
            <a:avLst>
              <a:gd name="adj" fmla="val 1261"/>
            </a:avLst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D6B3DA-18BA-46DA-A548-0B241022D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B5F61"/>
                </a:solidFill>
              </a:defRPr>
            </a:pPr>
            <a:r>
              <a:rPr sz="1200" b="1">
                <a:solidFill>
                  <a:srgbClr val="0B5F61"/>
                </a:solidFill>
              </a:rPr>
              <a:t>INVESTMENT PRESENTATION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434705-C3BF-472C-8C2A-97320BFF8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19250"/>
            <a:ext cx="52197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>
                <a:solidFill>
                  <a:srgbClr val="10202B"/>
                </a:solidFill>
              </a:defRPr>
            </a:pPr>
            <a:r>
              <a:rPr sz="4200" b="1">
                <a:solidFill>
                  <a:srgbClr val="10202B"/>
                </a:solidFill>
              </a:rPr>
              <a:t>Safety Sim builds measurable VR training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738D42-AD26-499B-A7B8-5344FA667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624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5F7080"/>
                </a:solidFill>
              </a:defRPr>
            </a:pPr>
            <a:r>
              <a:rPr sz="1800" b="0">
                <a:solidFill>
                  <a:srgbClr val="5F7080"/>
                </a:solidFill>
              </a:rPr>
              <a:t>The initial focus is high-risk industrial procedures where practice, records, and certification are business requirements.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1425D4-9ED6-4B7D-A5D1-9BF72B26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1714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0F401A-EED3-436A-82E4-BBA28E9F5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87B186-6DB2-4196-8EA7-E3AF1478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4611084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A61EFA3-0777-4B54-8BBD-F86919C34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0202B"/>
                </a:solidFill>
              </a:defRPr>
            </a:pPr>
            <a:r>
              <a:rPr sz="3300" b="1">
                <a:solidFill>
                  <a:srgbClr val="10202B"/>
                </a:solidFill>
              </a:rPr>
              <a:t>Training is moving from attendance to provable readiness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969CF6-38D7-4DC5-AD6A-360E155F8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76400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5F7080"/>
                </a:solidFill>
              </a:defRPr>
            </a:pPr>
            <a:r>
              <a:rPr sz="1650" b="0">
                <a:solidFill>
                  <a:srgbClr val="5F7080"/>
                </a:solidFill>
              </a:rPr>
              <a:t>Companies increasingly need training that can be repeated, measured, and documented. VR creates a safe environment for procedures that are costly or risky to practice in real life.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C75374-96C4-4833-BDA5-18CD26EDF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09900"/>
            <a:ext cx="3200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35807D-46BF-476E-A38E-340E45193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7660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5F61"/>
                </a:solidFill>
              </a:defRPr>
            </a:pPr>
            <a:r>
              <a:rPr sz="3150" b="1">
                <a:solidFill>
                  <a:srgbClr val="0B5F61"/>
                </a:solidFill>
              </a:rPr>
              <a:t>Safe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1F6081-D79E-4112-8B6D-C7087657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0576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B"/>
                </a:solidFill>
              </a:defRPr>
            </a:pPr>
            <a:r>
              <a:rPr sz="1500" b="0">
                <a:solidFill>
                  <a:srgbClr val="10202B"/>
                </a:solidFill>
              </a:rPr>
              <a:t>Dangerous situations are practiced without exposing people or equipment.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91AB6-1694-4CE0-B566-09D77084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09900"/>
            <a:ext cx="3200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EEF9FB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1C4EC-55E1-4EC8-B86D-B6EE60557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7660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5F61"/>
                </a:solidFill>
              </a:defRPr>
            </a:pPr>
            <a:r>
              <a:rPr sz="3150" b="1">
                <a:solidFill>
                  <a:srgbClr val="0B5F61"/>
                </a:solidFill>
              </a:rPr>
              <a:t>Repeat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A5589-E8FE-4EF0-B393-FCC08D484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576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B"/>
                </a:solidFill>
              </a:defRPr>
            </a:pPr>
            <a:r>
              <a:rPr sz="1500" b="0">
                <a:solidFill>
                  <a:srgbClr val="10202B"/>
                </a:solidFill>
              </a:rPr>
              <a:t>The same scenario can train many workers, sites, and shifts.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626759-CCB4-4D82-8B5B-BD23679FE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09900"/>
            <a:ext cx="3200400" cy="2095500"/>
          </a:xfrm>
          <a:prstGeom xmlns:a="http://schemas.openxmlformats.org/drawingml/2006/main" prst="roundRect">
            <a:avLst>
              <a:gd name="adj" fmla="val 2727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CFA47D-0F43-425F-9CF2-953FC9DB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76600"/>
            <a:ext cx="26479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0B5F61"/>
                </a:solidFill>
              </a:defRPr>
            </a:pPr>
            <a:r>
              <a:rPr sz="3150" b="1">
                <a:solidFill>
                  <a:srgbClr val="0B5F61"/>
                </a:solidFill>
              </a:rPr>
              <a:t>Record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23CC7C-7A34-4C3D-977C-BF7376B9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057650"/>
            <a:ext cx="2590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0202B"/>
                </a:solidFill>
              </a:defRPr>
            </a:pPr>
            <a:r>
              <a:rPr sz="1500" b="0">
                <a:solidFill>
                  <a:srgbClr val="10202B"/>
                </a:solidFill>
              </a:rPr>
              <a:t>Results and certificates become part of the company record.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21C49-CE24-495C-AB13-6E9ED57E8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C121EB9-FCC3-45F1-9450-0C45F1998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340920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5DF473E-E9D7-4DBA-B249-85C948D20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2B"/>
                </a:solidFill>
              </a:defRPr>
            </a:pPr>
            <a:r>
              <a:rPr sz="3150" b="1">
                <a:solidFill>
                  <a:srgbClr val="10202B"/>
                </a:solidFill>
              </a:rPr>
              <a:t>VR training fits where practice is expensive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EFE15D-AD72-45D8-9EBA-B515572FC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080"/>
                </a:solidFill>
              </a:defRPr>
            </a:pPr>
            <a:r>
              <a:rPr sz="1575" b="0">
                <a:solidFill>
                  <a:srgbClr val="5F7080"/>
                </a:solidFill>
              </a:rPr>
              <a:t>PwC reports that VR can speed up training, increase focus, and become cost-effective at scale. Recent research also shows applications in industrial hazards and evacuation protocols.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E95EAC-8295-4DC6-96BC-AF2975292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FE1B90-A2D2-424F-B9F4-AFF822F5B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Scenario-based learning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4DB7D-2A8A-4D77-A289-5F0D69422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VR supports practice in context, not only memorization of procedures.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1C6B08-5D7D-4280-BE18-F082A8A62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57CC95C-F058-4A71-B85C-BAA7747D6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Scalable content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B994EC-A9F5-4899-998E-06976BE5F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Once created, a scenario can be sold per worker, per company, and per vertical.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75AE09-91E2-4E1B-A997-16573B570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641F06-71DE-4100-A526-A1997A45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Industrial wedge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2F3A02-9923-4FA7-986C-840F702D8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Safety, hazardous materials, and waste handling have a clear need for documented training.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44c6c977c4cb5"/>
          <a:srcRect xmlns:a="http://schemas.openxmlformats.org/drawingml/2006/main" l="18667" t="0" r="18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00100"/>
            <a:ext cx="4476750" cy="4762500"/>
          </a:xfrm>
          <a:prstGeom xmlns:a="http://schemas.openxmlformats.org/drawingml/2006/main" prst="roundRect">
            <a:avLst>
              <a:gd name="adj" fmla="val 127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131399-9F4A-459E-AF1E-E4109730C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C3C72-841D-4DF4-AFC6-7358D184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93228912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47F8EFB-5AB3-43E0-8970-210AD71E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2B"/>
                </a:solidFill>
              </a:defRPr>
            </a:pPr>
            <a:r>
              <a:rPr sz="3150" b="1">
                <a:solidFill>
                  <a:srgbClr val="10202B"/>
                </a:solidFill>
              </a:rPr>
              <a:t>The product is already shaped as a SaaS platform, not a one-off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43E73D-86CB-4418-9493-8DA553524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080"/>
                </a:solidFill>
              </a:defRPr>
            </a:pPr>
            <a:r>
              <a:rPr sz="1575" b="0">
                <a:solidFill>
                  <a:srgbClr val="5F7080"/>
                </a:solidFill>
              </a:rPr>
              <a:t>The backend is multi-tenant, users belong to companies, and worker and certificate data stay within each tenant.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BB92255-B847-4922-8D44-1FE4CF69C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56396B-4BBF-4BBA-BA07-D336BC7B4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Scenario catalog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199459-139C-4791-8DE2-46F11B1D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Six areas are ready for presentation and further modeling.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EB3ADD-091A-4844-B43D-A18B21794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E27253C-EFF3-4962-A5F3-BEA450C81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Tenant logic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6A5617-65EA-4426-966B-AF9B609AA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Companies, users, workers, enrollments, and certificates are separated by organization.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6721EF-DDF5-4FF4-A268-34780B5B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9D1378-ADB7-492F-9315-04E06AE85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Deployment path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37D524-4F63-40F5-9EA5-F6401E275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Frontend and backend run on Hugging Face, with Azure SQL Free tier for the demo database.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d154e0712f4ac2"/>
          <a:srcRect xmlns:a="http://schemas.openxmlformats.org/drawingml/2006/main" l="19936" t="0" r="1993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00100"/>
            <a:ext cx="4476750" cy="4762500"/>
          </a:xfrm>
          <a:prstGeom xmlns:a="http://schemas.openxmlformats.org/drawingml/2006/main" prst="roundRect">
            <a:avLst>
              <a:gd name="adj" fmla="val 127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D5B4DBA-1E66-4ABD-BFA2-AA05D94FD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F3A01B-4879-4F78-9A63-F3F4AF0AD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86005059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E93FC2-CE86-4EDC-84FB-0A9FD1230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7810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2B"/>
                </a:solidFill>
              </a:defRPr>
            </a:pPr>
            <a:r>
              <a:rPr sz="3000" b="1">
                <a:solidFill>
                  <a:srgbClr val="10202B"/>
                </a:solidFill>
              </a:rPr>
              <a:t>The initial catalog covers high-risk and regulated processes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27b9ee46b847b5"/>
          <a:srcRect xmlns:a="http://schemas.openxmlformats.org/drawingml/2006/main" l="0" t="13614" r="0" b="1361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167640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0EC02A-C604-446D-BD9F-C853BCF0E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Fire protection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9CBF9-EED4-4968-B29D-C90B77E18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a206f440854e02"/>
          <a:srcRect xmlns:a="http://schemas.openxmlformats.org/drawingml/2006/main" l="0" t="20882" r="0" b="20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167640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8FB1D4-271F-4726-99A3-E04F823A1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86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Radioactive materials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A04BEE-8E67-4B66-A436-10804833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67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B308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f7d4adf0b6049e0"/>
          <a:srcRect xmlns:a="http://schemas.openxmlformats.org/drawingml/2006/main" l="0" t="20882" r="0" b="20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2900" y="167640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B83476A-C240-4543-A91A-F3411C93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08610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Chemical waste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C49CD5-1B3C-48B9-9B42-7BDA395C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6710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e8d4b148bb4b8c"/>
          <a:srcRect xmlns:a="http://schemas.openxmlformats.org/drawingml/2006/main" l="0" t="20882" r="0" b="20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9600" y="375285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5EEED1-51EB-4D15-87E3-86FCD323C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Construction waste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C5D6D9-14F0-477F-960C-3C5FEFB84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43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A34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d52296e6464528"/>
          <a:srcRect xmlns:a="http://schemas.openxmlformats.org/drawingml/2006/main" l="0" t="19653" r="0" b="19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286250" y="375285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F096C0-1F3A-4297-98B1-D224C88B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Electronic waste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4D7E7D-99C1-43D1-9D91-B553D184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543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a6b18f5765a4f56"/>
          <a:srcRect xmlns:a="http://schemas.openxmlformats.org/drawingml/2006/main" l="0" t="20882" r="0" b="2088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62900" y="3752850"/>
            <a:ext cx="3238500" cy="1257300"/>
          </a:xfrm>
          <a:prstGeom xmlns:a="http://schemas.openxmlformats.org/drawingml/2006/main" prst="roundRect">
            <a:avLst>
              <a:gd name="adj" fmla="val 4545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CC7F6C-7513-4E3B-90B6-2C79CAE5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1625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2B"/>
                </a:solidFill>
              </a:defRPr>
            </a:pPr>
            <a:r>
              <a:rPr sz="1500" b="1">
                <a:solidFill>
                  <a:srgbClr val="10202B"/>
                </a:solidFill>
              </a:rPr>
              <a:t>Biomedical waste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D27C54C-F0FB-4F01-95E6-F523BA957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5543550"/>
            <a:ext cx="5524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E6F07-9C5C-4471-B3D9-6B1738C36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B3DB07-CF50-41BB-A34A-3F130F660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06482401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AE692B4-D572-4FF3-B31C-C90661D1B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8191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10202B"/>
                </a:solidFill>
              </a:defRPr>
            </a:pPr>
            <a:r>
              <a:rPr sz="3000" b="1">
                <a:solidFill>
                  <a:srgbClr val="10202B"/>
                </a:solidFill>
              </a:rPr>
              <a:t>Pricing is simple enough for a fast buying decision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B824D69-61D5-4C0D-B11B-FC48DEE40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62150"/>
            <a:ext cx="31242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13C33F-DB7E-4946-BBE9-E4AEF9277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F61"/>
                </a:solidFill>
              </a:defRPr>
            </a:pPr>
            <a:r>
              <a:rPr sz="1800" b="1">
                <a:solidFill>
                  <a:srgbClr val="0B5F61"/>
                </a:solidFill>
              </a:rPr>
              <a:t>Small companies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1034C1-0B28-4E95-9300-15781351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up to 10 workers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B10C89-8BE3-44CE-BB20-B12EBDCAA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371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2B"/>
                </a:solidFill>
              </a:defRPr>
            </a:pPr>
            <a:r>
              <a:rPr sz="2025" b="1">
                <a:solidFill>
                  <a:srgbClr val="10202B"/>
                </a:solidFill>
              </a:rPr>
              <a:t>up to EUR 10 monthly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F52B2-552F-4552-A716-9AC8D6A7A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up to EUR 100 yearly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A8C5EFA-68EE-4EDB-A221-D4C65044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1962150"/>
            <a:ext cx="31242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EEF9FB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1E886-B366-4645-86F3-98584A274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28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F61"/>
                </a:solidFill>
              </a:defRPr>
            </a:pPr>
            <a:r>
              <a:rPr sz="1800" b="1">
                <a:solidFill>
                  <a:srgbClr val="0B5F61"/>
                </a:solidFill>
              </a:rPr>
              <a:t>Mid-size companies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513AB6-00E7-413C-8CC6-3502A1FBE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up to 100 workers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7A133F2-4E45-43E6-AD82-530CCC96F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371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2B"/>
                </a:solidFill>
              </a:defRPr>
            </a:pPr>
            <a:r>
              <a:rPr sz="2025" b="1">
                <a:solidFill>
                  <a:srgbClr val="10202B"/>
                </a:solidFill>
              </a:rPr>
              <a:t>up to EUR 100 monthly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07EB37-A23C-4C79-80AE-F6560DFA3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up to EUR 1,000 yearly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4548F9-1398-44AB-A8EE-1455CBD2C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962150"/>
            <a:ext cx="3124200" cy="2762250"/>
          </a:xfrm>
          <a:prstGeom xmlns:a="http://schemas.openxmlformats.org/drawingml/2006/main" prst="roundRect">
            <a:avLst>
              <a:gd name="adj" fmla="val 2069"/>
            </a:avLst>
          </a:prstGeom>
          <a:solidFill xmlns:a="http://schemas.openxmlformats.org/drawingml/2006/main">
            <a:srgbClr val="F3F8FA"/>
          </a:solidFill>
          <a:ln xmlns:a="http://schemas.openxmlformats.org/drawingml/2006/main" w="9525">
            <a:solidFill>
              <a:srgbClr val="DBE5EC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DA8F36-216C-4046-AE10-78986D84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288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5F61"/>
                </a:solidFill>
              </a:defRPr>
            </a:pPr>
            <a:r>
              <a:rPr sz="1800" b="1">
                <a:solidFill>
                  <a:srgbClr val="0B5F61"/>
                </a:solidFill>
              </a:rPr>
              <a:t>Large companies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79E831C-4E6D-47E8-866F-94A1AB09E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100+ workers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C56CB0C-C75F-4C0D-9135-4D2D8E5DE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37185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0202B"/>
                </a:solidFill>
              </a:defRPr>
            </a:pPr>
            <a:r>
              <a:rPr sz="2025" b="1">
                <a:solidFill>
                  <a:srgbClr val="10202B"/>
                </a:solidFill>
              </a:rPr>
              <a:t>EUR 1 x number of workers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FAB7675-8D42-4469-A1D3-2321D006E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905250"/>
            <a:ext cx="2476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F7080"/>
                </a:solidFill>
              </a:defRPr>
            </a:pPr>
            <a:r>
              <a:rPr sz="1500" b="0">
                <a:solidFill>
                  <a:srgbClr val="5F7080"/>
                </a:solidFill>
              </a:rPr>
              <a:t>EUR 10 x number of workers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FDEB3A-9F57-41DA-B875-034830DFF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191125"/>
            <a:ext cx="800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202B"/>
                </a:solidFill>
              </a:defRPr>
            </a:pPr>
            <a:r>
              <a:rPr sz="1650" b="0">
                <a:solidFill>
                  <a:srgbClr val="10202B"/>
                </a:solidFill>
              </a:rPr>
              <a:t>Base model: EUR 1 per worker per month or EUR 10 per worker per year.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9E73AA-B99A-4A69-B04B-BFF2BF4E6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1DBDEFB-A3E2-4408-9E3C-429F72D9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98319611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284BC8F-CBA5-4A56-BA98-A8925F9E7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81915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2B"/>
                </a:solidFill>
              </a:defRPr>
            </a:pPr>
            <a:r>
              <a:rPr sz="3150" b="1">
                <a:solidFill>
                  <a:srgbClr val="10202B"/>
                </a:solidFill>
              </a:rPr>
              <a:t>Go-to-market starts with narrow pilots, then expands through the catalog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C442A6-0BC1-4281-84C0-C087AAF8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073919-69AC-472C-9E62-9555C5BF8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4C24B-8C23-456D-B4AC-1E8EEBC0A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Pilot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2806B1-69E1-499E-84A7-46C4D200E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One company, one topic, one small worker group.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DC97C2-D724-4736-9673-03E510C97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52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8CB98A2-B8FF-4410-8E4C-353616E39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F0571A-9936-4552-91AA-936B7DFE0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739FC0-F906-4188-AABA-1E5911E87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Proof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DC9D1-4BA0-4029-8E2B-8597ED70E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Completed training, certificates, and instructor feedback.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D17D77-7A96-4A4C-8C5B-AF707CF08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9650" y="2952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02521D-0A8A-45D9-9621-7AB212AC9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7AC322-E769-473A-8BF0-302074EB7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D6ABA-AD5C-4B0E-B611-99612DB97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Expand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B4BE6C1-5CC7-4758-A0C7-B45B7E8AA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Add sites, languages, and scenarios.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82DA523-4736-45F2-8CA6-CCBCC4064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52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F6628-8B8A-4EE0-A513-FFF143FFD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F8F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309943-50C2-4E15-BFB6-70F61E5A2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6FB995B-7715-47A8-9D79-3FFA27058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Partner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C6657BD-F08D-4641-997F-23C9DC9BD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Sell through HSE consultants and training centers.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61ED9A-2771-4F5D-B92C-D5D454B2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952750"/>
            <a:ext cx="4191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243CEE-2DCD-4CA2-9B98-9DA50F4FC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7400" y="2171700"/>
            <a:ext cx="1714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7F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84A5DB-F6BB-46F8-97A7-3F42DEFDD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622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0B5F61"/>
                </a:solidFill>
              </a:defRPr>
            </a:pPr>
            <a:r>
              <a:rPr sz="2550" b="1">
                <a:solidFill>
                  <a:srgbClr val="0B5F61"/>
                </a:solidFill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22A00D-CD40-4B6A-8C7F-B2CCF728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952750"/>
            <a:ext cx="1428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0202B"/>
                </a:solidFill>
              </a:defRPr>
            </a:pPr>
            <a:r>
              <a:rPr sz="1650" b="1">
                <a:solidFill>
                  <a:srgbClr val="10202B"/>
                </a:solidFill>
              </a:rPr>
              <a:t>Platform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B51918-36D2-48E9-B491-D15C191E2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3638550"/>
            <a:ext cx="14668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F7080"/>
                </a:solidFill>
              </a:defRPr>
            </a:pPr>
            <a:r>
              <a:rPr sz="1200" b="0">
                <a:solidFill>
                  <a:srgbClr val="5F7080"/>
                </a:solidFill>
              </a:rPr>
              <a:t>Scenario library as recurring revenue.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D90C95-1B8C-4077-9B0F-E9654FF4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023FE1-B532-4E64-AD54-F922DD507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89301355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36BCAC0-51DB-401C-B5B4-AC1F74AD6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5300"/>
            <a:ext cx="6191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202B"/>
                </a:solidFill>
              </a:defRPr>
            </a:pPr>
            <a:r>
              <a:rPr sz="3150" b="1">
                <a:solidFill>
                  <a:srgbClr val="10202B"/>
                </a:solidFill>
              </a:rPr>
              <a:t>The roadmap increases value per customer and lowers sales cost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0AF545-3EBC-4D20-93B3-66862FDCB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524000"/>
            <a:ext cx="54673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F7080"/>
                </a:solidFill>
              </a:defRPr>
            </a:pPr>
            <a:r>
              <a:rPr sz="1575" b="0">
                <a:solidFill>
                  <a:srgbClr val="5F7080"/>
                </a:solidFill>
              </a:rPr>
              <a:t>The most important next steps are validation with first customers and stronger product depth around analytics and content.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6B7367-BF1A-4028-8B13-A7CD1FAC8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765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84AF3C-B62C-4004-B845-A0DCD9720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908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Short term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DBC7DA9-7B4C-4529-97BA-2C10AFC67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Stabilize the Azure SQL production database, onboarding, and basic reports.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0DB804-E247-4330-9278-107AB5E31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528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DAB6CBD-36A7-4335-9377-D0C188808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Mid 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369151-957C-4A7F-AAE1-8466608F4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7909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Add mistake analytics, certificate templates, and new languages.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B7296-08BC-48F1-BFDB-880C9CB71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133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8B8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8A1B59-8354-4D0B-8797-F7EFB4420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3434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2B"/>
                </a:solidFill>
              </a:defRPr>
            </a:pPr>
            <a:r>
              <a:rPr sz="1800" b="1">
                <a:solidFill>
                  <a:srgbClr val="10202B"/>
                </a:solidFill>
              </a:rPr>
              <a:t>Long term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307DBF3-7710-4135-996A-0D9F5ED78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672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F7080"/>
                </a:solidFill>
              </a:defRPr>
            </a:pPr>
            <a:r>
              <a:rPr sz="1275" b="0">
                <a:solidFill>
                  <a:srgbClr val="5F7080"/>
                </a:solidFill>
              </a:rPr>
              <a:t>AI feedback, LMS/HR integrations, and a scenario marketplace.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0faa9008362415e"/>
          <a:srcRect xmlns:a="http://schemas.openxmlformats.org/drawingml/2006/main" l="18667" t="0" r="1866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53250" y="800100"/>
            <a:ext cx="4476750" cy="4762500"/>
          </a:xfrm>
          <a:prstGeom xmlns:a="http://schemas.openxmlformats.org/drawingml/2006/main" prst="roundRect">
            <a:avLst>
              <a:gd name="adj" fmla="val 1277"/>
            </a:avLst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25262E-F8AE-434A-B5C1-27D83871B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A1ACA53-DB08-43E4-89EC-E08752BF6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9652419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B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A3AF35B-17D3-4515-AAB7-C26B5366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809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10202B"/>
                </a:solidFill>
              </a:defRPr>
            </a:pPr>
            <a:r>
              <a:rPr sz="3600" b="1">
                <a:solidFill>
                  <a:srgbClr val="10202B"/>
                </a:solidFill>
              </a:rPr>
              <a:t>The investment story needs capital or partnership to validate the market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D7E1CB-2961-4E2D-A082-721CA8EF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2669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2B"/>
                </a:solidFill>
              </a:defRPr>
            </a:pPr>
            <a:r>
              <a:rPr sz="1800" b="0">
                <a:solidFill>
                  <a:srgbClr val="10202B"/>
                </a:solidFill>
              </a:rPr>
              <a:t>1. Complete 2-3 paid pilots in industrial safety.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40D11A-D506-4AB8-9E69-26DE6FE97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2B"/>
                </a:solidFill>
              </a:defRPr>
            </a:pPr>
            <a:r>
              <a:rPr sz="1800" b="0">
                <a:solidFill>
                  <a:srgbClr val="10202B"/>
                </a:solidFill>
              </a:rPr>
              <a:t>2. Turn the most requested procedures into repeatable VR modules.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1C1D79-82F0-445D-82D7-526665EC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48050"/>
            <a:ext cx="723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0202B"/>
                </a:solidFill>
              </a:defRPr>
            </a:pPr>
            <a:r>
              <a:rPr sz="1800" b="0">
                <a:solidFill>
                  <a:srgbClr val="10202B"/>
                </a:solidFill>
              </a:rPr>
              <a:t>3. Build a sales channel through HSE and training partners.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257EE2-3B42-4312-9C81-86EC6EBB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24450"/>
            <a:ext cx="5905500" cy="66675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0F8B8D"/>
          </a:solidFill>
          <a:ln xmlns:a="http://schemas.openxmlformats.org/drawingml/2006/main" w="9525">
            <a:solidFill>
              <a:srgbClr val="0F8B8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D21A7D-C7AF-4007-967C-1B228A89BA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314950"/>
            <a:ext cx="533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Goal: repeatable SaaS model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348F44-AD9D-4E0F-8167-3DAFD0E1F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343650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Safety Sim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F7270F-A942-4846-B077-8F14A77F5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343650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5F7080"/>
                </a:solidFill>
              </a:defRPr>
            </a:pPr>
            <a:r>
              <a:rPr sz="1050" b="1">
                <a:solidFill>
                  <a:srgbClr val="5F7080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3278316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2026-07-11T07:38:39.7160000Z</dcterms:created>
  <dcterms:modified xsi:type="dcterms:W3CDTF">2026-07-11T07:38:39.7160000Z</dcterms:modified>
</coreProperties>
</file>